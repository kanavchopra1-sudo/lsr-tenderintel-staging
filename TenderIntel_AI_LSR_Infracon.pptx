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418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</a:defRPr>
            </a:pPr>
            <a:r>
              <a:t>LSR INFRACON PRIVATE LIMITED  |  CHANDIGARH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TenderIntel AI Engine</a:t>
            </a:r>
          </a:p>
          <a:p>
            <a:pPr>
              <a:defRPr sz="2000" b="1">
                <a:solidFill>
                  <a:srgbClr val="1D4ED8"/>
                </a:solidFill>
              </a:defRPr>
            </a:pPr>
            <a:r>
              <a:t>Proprietary Bidding Analytics &amp; Margin Protection System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―――――――――――――――――――――――――――――――――――――――――――――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Target Operational Zones:  Mizoram (Project Pushpak)  •  Himachal Pradesh (Project Deepak)  •  Uttar Pradesh (UPFDR)</a:t>
            </a:r>
          </a:p>
          <a:p>
            <a:br/>
            <a:pPr>
              <a:defRPr sz="1300" b="1">
                <a:solidFill>
                  <a:srgbClr val="047857"/>
                </a:solidFill>
              </a:defRPr>
            </a:pPr>
            <a:r>
              <a:t>Key Milestone Today: Bidding &amp; Rate Analysis for Tender 2026_BRO_787576_1 (Rs. 13.17 Cr, Lawngtlai)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TENDERINTEL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1. Multi-State Tender Discovery &amp; Real-Time Tracker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Core Live Capabilities: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Automated Multi-State Indexing: Crawls defproc.gov.in, eprocure.gov.in, and state PWD portals for target keywords.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Filtered Specifically for LSR: Keyword rules target WMM, DBM, BC, FDR, Soil Stabilization, and BRO Project Pushpak / Deepak.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Call Status Tracking: Automatically identifies 4th Call re-issued tenders (where probability of winning is significantly higher).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Zero Information Leakage: Unlike commercial platforms, all tracked tenders and searches remain 100% confidential.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21208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Current Active Packages (Live in System):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► Tender ID: 2026_BRO_787576_1</a:t>
            </a:r>
            <a:br/>
            <a:r>
              <a:t>Scope: WMM, DBM 50mm, BC 30mm on K-P-T Road (Lawngtlai, Mizoram)</a:t>
            </a:r>
            <a:br/>
            <a:r>
              <a:t>Value: Rs. 13.1672 Cr | Due Date: 08-Oct-2026 18:00 (1st Call)</a:t>
            </a:r>
            <a:br/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► Tender ID: 2026_BRO_756711_4</a:t>
            </a:r>
            <a:br/>
            <a:r>
              <a:t>Scope: HMP Ready Mix BC 30mm &amp; BM 75mm on H-S-S Road (Aizawl, Mizoram)</a:t>
            </a:r>
            <a:br/>
            <a:r>
              <a:t>Value: Rs. 4.30 Cr | Due Date: 07-Oct-2026 18:00 (4th Call High Win)</a:t>
            </a:r>
            <a:br/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► Tender ID: 2026_BRO_791244_1</a:t>
            </a:r>
            <a:br/>
            <a:r>
              <a:t>Scope: DBM 50mm, BC 30mm on Manali-Keylong-Leh Highway (Lahaul-Spiti, HP)</a:t>
            </a:r>
            <a:br/>
            <a:r>
              <a:t>Value: Rs. 16.45 Cr | Due Date: 22-Oct-2026 18:00 (1st Call)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TENDERINTEL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2. Historical Award of Contract (AOC) &amp; Competitor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Empirical L1 Winning Signals: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Mizoram (Project Pushpak): L1 winning discounts land between -3.1% and -3.8%. Steep logistics and Silchar bitumen haulage limit aggressive price drops.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Himachal Pradesh (Project Deepak / PWD): L1 discounts land between -4.6% and -6.5% due to proximity to Punjab/Haryana stone crushers.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Uttar Pradesh (UPRRDA PMGSY FDR): L1 discounts land between -4.8% and -5.5% as in-situ FDR eliminates stone haulage costs.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Competitor Tracking: Analyzes historical winning bids from Gawar Construction, KCC Buildcon, Singla Group, and PNC Infratech.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21208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Verified Ingested Historical Contracts: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✔ Mizoram 71 RCC: S-K-T Road (Rs. 8.75 Cr) -&gt; Won by LSR Infracon @ -3.77% (Rs. 8.42 Cr)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✔ Mizoram 24 BRTF: A-C Road (Rs. 11.20 Cr) -&gt; Won by Singla Group @ -3.12% (Rs. 10.85 Cr)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✔ HP Project Deepak: Manali-Sarchu (Rs. 15.60 Cr) -&gt; Won by Gawar Const. @ -4.61% (Rs. 14.88 Cr)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✔ HP PWD: Shimla-Bilaspur (Rs. 9.40 Cr) -&gt; Won by KCC Buildcon @ -6.48% (Rs. 8.79 Cr)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✔ UP PMGSY: UPFDR Pkg 12 (Rs. 14.30 Cr) -&gt; Won by LSR Infracon @ -5.45% (Rs. 13.52 Cr)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✔ UP PMGSY: UPFDR Pkg 25 (Rs. 12.80 Cr) -&gt; Won by PNC Infratech @ -4.84% (Rs. 12.18 Cr)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TENDERINTEL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3. Dynamic BOQ Rate Calculator &amp; 20% Margin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The Pricing Problem It Solves: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Mobilization Recovery: Moving 11 trailers from Chandigarh to Lawngtlai costs Rs. 75.00 Lakhs (including round-trip trailers + HMP erection).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Amortization Model: The algorithm distributes the Rs. 75L overhead across individual layer unit rates so it is 100% reimbursed through RA bills.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Guaranteed Net Margin: Automatically calculates rates to yield exactly 20.0% net profit (Rs. 2.56 Crores net cash) on the Rs. 13.17 Cr tender.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Competitive Accuracy: Targets the precise L1 sweet spot (-2.74%) to win against local Mizoram bidders.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21208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Calculated Rates for BOQ_882682.xls: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Item 1.01: WMM 150mm (2x75mm) [95,834 sqm] @ Rs. 485 / sqm = Rs. 4.65 Cr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Item 1.02: WMM 100mm (1 layer) [47,917 sqm] @ Rs. 325 / sqm = Rs. 1.56 Cr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Item 1.03: Prime Coat Emulsion [47,917 sqm] @ Rs. 42 / sqm = Rs. 0.20 Cr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Item 1.04: Tack Coat VG-10 [45,705 sqm] @ Rs. 28 / sqm = Rs. 0.13 Cr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Item 1.05: DBM 50mm VG-30 [44,367 sqm] @ Rs. 840 / sqm = Rs. 3.73 Cr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Item 1.06: BC 30mm VG-30 [45,705 sqm] @ Rs. 520 / sqm = Rs. 2.38 Cr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Item 1.07: Thermoplastic Paint 2.5mm [2,366 sqm] @ Rs. 710 / sqm = Rs. 0.17 Cr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TOTAL QUOTED BID: Rs. 12,80,60,443 (-2.74% Below Estimate)</a:t>
            </a:r>
            <a:br/>
            <a:r>
              <a:t>NET CASH PROFIT: Rs. 2,56,12,088 (20.00% Protected)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TENDERINTEL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4. Contract Risk Detection: Clause 10CA Bitumen Shield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</a:defRPr>
            </a:pPr>
            <a:r>
              <a:t>Audit Findings from TendocNIT12.pdf: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⚠ Special Condition 28 (Page 94): 'No reimbursement/refund on variation in prices of Material and/or fuel of any type is admissible under this contract.'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⚠ Special Condition 37 (Page 97): Explicitly states that Bitumen Price Variation is NOT applicable for contracts &lt;= 18 months duration.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⚠ Physical Strike-out: BRO literally crossed out the formula EB = QB * (B1 - B0) * 1.15 in the contract document.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⚠ The Danger: A standard contractor assuming price escalation would face huge losses if crude oil prices spike during the 1-year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21208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47857"/>
                </a:solidFill>
              </a:defRPr>
            </a:pPr>
            <a:r>
              <a:t>How TenderIntel AI Shields LSR: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✔ Automatic Fluctuation Buffer: Injects an internal 4% Bitumen Price Buffer into DBM 50mm and BC 30mm rates.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✔ Margin Protection: Even if IOCL Silchar increases bitumen rates by Rs. 3,000/MT, LSR's 20% Net Profit remains intact.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✔ Procurement Strategy: Triggers an automated advisory to book bulk advance orders with IOCL Silchar Depot immediately upon Letter of Acceptance.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✔ Executive Summary Alert: Alerts management on their mobile devices before signing the tender.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TENDERINTEL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5. BRO Bid Capacity &amp; Technical Cover-1 Assembler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BRO Available Bid Capacity Audit: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Formula: Available Bid Capacity = (2.5 * A * N) - B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A (Peak Annual Turnover in Last 5 Years): Rs. 10.00 Crores (FY 2025-26 base)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N (Period of Completion): 1.0 Year (365 days)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B (Value of Ongoing Balance Works): Rs. 5.00 Crores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Calculated Capacity: (2.5 * 10 * 1.0) - 5 = Rs. 20.00 Crores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Target Requirement: Rs. 13.1672 Crores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Status: QUALIFIED (Capacity Rs. 20.00 Cr &gt; Tender Value Rs. 13.17 Cr)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21208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1-Click Cover-1 PDF Generator: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📄 VEP Affidavit (Clause 6.3): Pre-drafted declaration for 11 machinery units from Chandigarh (HMP 60 TPH, Sensor Paver, Rollers, Excavator).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📄 Integrity Pact Undertaking (Page 135/136): Mandatory formal undertaking pre-filled for BRO Project Pushpak NIT 12.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📄 Bank Working Capital Certificate (Clause 6a): Formal bank certificate proving Rs. 1.50 Cr credit facility (exceeds 10% requirement).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📄 Court Cases / Non-Blacklisting Declaration: Clean format compliant with BRO Clause 8.5.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TENDERINTEL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6. Operational Automation Suite: Scripts &amp; Dispatchers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End-to-End Operational Pipeline: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► boq_excel_populator.py (1-Click BOQ Inserter):</a:t>
            </a:r>
            <a:br/>
            <a:r>
              <a:t>   Injects calibrated rates into official BOQ_882682.xls, calculates totals, and validates arithmetic in 2 seconds without human error.</a:t>
            </a:r>
            <a:br/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► cover1_assembler.py (Technical Dossier Assembler):</a:t>
            </a:r>
            <a:br/>
            <a:r>
              <a:t>   Auto-assembles VEP Affidavits, Integrity Pacts, and Bank Certificates into a single, indexed, portal-compliant submission packet.</a:t>
            </a:r>
            <a:br/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► telegram_alert_bot.py (Executive Mobile Dispatcher):</a:t>
            </a:r>
            <a:br/>
            <a:r>
              <a:t>   Sends 10-second formatted executive briefs directly to management mobile devices when new tenders or date extensions are detected.</a:t>
            </a:r>
            <a:br/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► aoc_ingestion_engine.py (Competitor Award Crawler):</a:t>
            </a:r>
            <a:br/>
            <a:r>
              <a:t>   Ingests past winning contractor rates and stores them in local database to calibrate future bidding models.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TENDERINTEL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7. Strategic Roadmap: Future Development (Phases 2 &amp;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Phase 2: Live Cloud Automation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24/7 Staging Server: Deploying scrapers to Ubuntu VPS with PostgreSQL to monitor all 28 state PWD &amp; GeM portals continuously.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WhatsApp Business Webhook: Real-time alerts sent to directors' WhatsApp for pre-bid replies and date corrigendums within 15 minutes of release.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Multi-User Roles: Dedicated logins for Chandigarh HQ, Site Project Managers (Lawngtlai), and Estimators.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21208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Phase 3: Execution &amp; Margin Protection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Digital Material Register (Reg 29): Mobile web logging for site engineers in Mizoram to track daily bitumen/cement consumption and prevent billing disputes.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Fleet Telematics &amp; Idling Monitor: GPS integration tracking machine run-time vs. idle-time for the 11 mobilized machines to eliminate idling losses.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AI CAD Area Takeoff: Automated computer vision reading cross-sections from highway alignment drawings to catch volume discrepancies.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47857"/>
                </a:solidFill>
              </a:defRPr>
            </a:pPr>
            <a:r>
              <a:t>SUMMARY &amp; IMMEDIATE ACTION PLAN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Immediate Plan for October 8 Tender Deadline: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―――――――――――――――――――――――――――――――――――――――――――――</a:t>
            </a:r>
          </a:p>
          <a:p>
            <a:pPr>
              <a:defRPr sz="1500" b="1">
                <a:solidFill>
                  <a:srgbClr val="1E293B"/>
                </a:solidFill>
              </a:defRPr>
            </a:pPr>
            <a:r>
              <a:t>✔ 1. Submit Tender 2026_BRO_787576_1 (Lawngtlai) @ Rs. 12.80 Cr (-2.74% L1 Sweet Spot).</a:t>
            </a:r>
          </a:p>
          <a:p>
            <a:pPr>
              <a:defRPr sz="1500" b="1">
                <a:solidFill>
                  <a:srgbClr val="1E293B"/>
                </a:solidFill>
              </a:defRPr>
            </a:pPr>
            <a:r>
              <a:t>✔ 2. Attach Pre-Drafted Cover-1 Affidavits (VEP, Integrity Pact, Working Capital).</a:t>
            </a:r>
          </a:p>
          <a:p>
            <a:pPr>
              <a:defRPr sz="1500" b="1">
                <a:solidFill>
                  <a:srgbClr val="1E293B"/>
                </a:solidFill>
              </a:defRPr>
            </a:pPr>
            <a:r>
              <a:t>✔ 3. Issue EMD of Rs. 9,83,360 payable to HQ CE (P) Pushpak at SBI Bawnkawn (Code: 7059).</a:t>
            </a:r>
          </a:p>
          <a:p>
            <a:pPr>
              <a:defRPr sz="1500" b="1">
                <a:solidFill>
                  <a:srgbClr val="1E293B"/>
                </a:solidFill>
              </a:defRPr>
            </a:pPr>
            <a:r>
              <a:t>✔ 4. Transition TenderIntel AI to LSR's dedicated staging server post-bid.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